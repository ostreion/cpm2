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Calibri"/>
              </a:rPr>
              <a:t>CPM2 / CPNext: cyclic-peptide PPI-inhibitor pipeline</a:t>
            </a:r>
          </a:p>
          <a:p>
            <a:pPr algn="l"/>
            <a:r>
              <a:rPr sz="2400" b="1" i="0">
                <a:solidFill>
                  <a:srgbClr val="2D6A8E"/>
                </a:solidFill>
                <a:latin typeface="Calibri"/>
              </a:rPr>
              <a:t>Status report and hand-off</a:t>
            </a:r>
          </a:p>
          <a:p>
            <a:pPr algn="l">
              <a:spcBef>
                <a:spcPts val="1800"/>
              </a:spcBef>
            </a:pPr>
            <a:r>
              <a:rPr sz="1600" b="0" i="1">
                <a:solidFill>
                  <a:srgbClr val="3D4055"/>
                </a:solidFill>
                <a:latin typeface="Calibri"/>
              </a:rPr>
              <a:t>A candid evaluation of pipeline quality. What it can show, where it is weak, what is queued.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4055"/>
                </a:solidFill>
                <a:latin typeface="Calibri"/>
              </a:rPr>
              <a:t>Adrian Cipriani  -&gt;  Niklas, Martin</a:t>
            </a:r>
          </a:p>
          <a:p>
            <a:pPr algn="l"/>
            <a:r>
              <a:rPr sz="1400" b="0" i="0">
                <a:solidFill>
                  <a:srgbClr val="6B6F80"/>
                </a:solidFill>
                <a:latin typeface="Calibri"/>
              </a:rPr>
              <a:t>Period: 2026-04-13 to ongoing.  Informal hand-off briefing.</a:t>
            </a:r>
          </a:p>
          <a:p>
            <a:pPr algn="l"/>
            <a:r>
              <a:rPr sz="1200" b="0" i="1">
                <a:solidFill>
                  <a:srgbClr val="6B6F80"/>
                </a:solidFill>
                <a:latin typeface="Calibri"/>
              </a:rPr>
              <a:t>Scientific spine: negative-control MD batch (benchmarks/md_20260528_negcontrols).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question, and the pipeline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Can interface-mimicry seed competitive cyclic-peptide PPI inhibitors?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D4055"/>
                </a:solidFill>
                <a:latin typeface="Calibri"/>
              </a:rPr>
              <a:t>- Goal: design head-to-tail / disulfide cyclic peptides that block four protein-protein interfaces.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D4055"/>
                </a:solidFill>
                <a:latin typeface="Calibri"/>
              </a:rPr>
              <a:t>- Targets: MDM2/p53, Bcl-xL/Bad, 14-3-3/Cdc25C, CypA/HIV-capsid.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D4055"/>
                </a:solidFill>
                <a:latin typeface="Calibri"/>
              </a:rPr>
              <a:t>- Premise: borrow the backbone geometry of a known interface, then redesign the sequence.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49039"/>
            <a:ext cx="3017520" cy="1554480"/>
          </a:xfrm>
          <a:prstGeom prst="rect">
            <a:avLst/>
          </a:prstGeom>
          <a:solidFill>
            <a:srgbClr val="2D6A8E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cPEPmatch</a:t>
            </a:r>
          </a:p>
          <a:p>
            <a:pPr algn="ctr"/>
            <a:r>
              <a:rPr sz="1300" b="0" i="0">
                <a:solidFill>
                  <a:srgbClr val="EEEEF2"/>
                </a:solidFill>
                <a:latin typeface="Calibri"/>
              </a:rPr>
              <a:t>geometric backbone
match to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17520" cy="1554480"/>
          </a:xfrm>
          <a:prstGeom prst="rect">
            <a:avLst/>
          </a:prstGeom>
          <a:solidFill>
            <a:srgbClr val="4A6B8A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Boltz-2</a:t>
            </a:r>
          </a:p>
          <a:p>
            <a:pPr algn="ctr"/>
            <a:r>
              <a:rPr sz="1300" b="0" i="0">
                <a:solidFill>
                  <a:srgbClr val="EEEEF2"/>
                </a:solidFill>
                <a:latin typeface="Calibri"/>
              </a:rPr>
              <a:t>fold-validate complex
(ipTM, pLDDT, RMSD)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3749039"/>
            <a:ext cx="3017520" cy="1554480"/>
          </a:xfrm>
          <a:prstGeom prst="rect">
            <a:avLst/>
          </a:prstGeom>
          <a:solidFill>
            <a:srgbClr val="5E7C6E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ProteinHunter</a:t>
            </a:r>
          </a:p>
          <a:p>
            <a:pPr algn="ctr"/>
            <a:r>
              <a:rPr sz="1300" b="0" i="0">
                <a:solidFill>
                  <a:srgbClr val="EEEEF2"/>
                </a:solidFill>
                <a:latin typeface="Calibri"/>
              </a:rPr>
              <a:t>sequence refinement
(LigandMPNN + Boltz)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4206239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2D6A8E"/>
                </a:solidFill>
                <a:latin typeface="Calibri"/>
              </a:rPr>
              <a:t>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4206239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2D6A8E"/>
                </a:solidFill>
                <a:latin typeface="Calibri"/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Pipeline computes geometry + model confidence, not a thermodynamic score. Affinity is assessed only later, by offline MD/MMGBSA on a shortlist.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What the pipeline can show: the triage funnel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MDM2/p53 v1 run as the worked example (data/runs/mdm2_p53_v1_...).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047" y="1600200"/>
            <a:ext cx="10515600" cy="868680"/>
          </a:xfrm>
          <a:prstGeom prst="rect">
            <a:avLst/>
          </a:prstGeom>
          <a:solidFill>
            <a:srgbClr val="2D6A8E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37   cPEPmatch backbone matches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447" y="2679192"/>
            <a:ext cx="8686800" cy="868680"/>
          </a:xfrm>
          <a:prstGeom prst="rect">
            <a:avLst/>
          </a:prstGeom>
          <a:solidFill>
            <a:srgbClr val="4A6B8A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37   Boltz-2 folded poses (ipTM 0.83 to 0.96)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6847" y="3758184"/>
            <a:ext cx="6858000" cy="868680"/>
          </a:xfrm>
          <a:prstGeom prst="rect">
            <a:avLst/>
          </a:prstGeom>
          <a:solidFill>
            <a:srgbClr val="5E7C6E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148   ProteinHunter refined designs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4837176"/>
            <a:ext cx="3657600" cy="868680"/>
          </a:xfrm>
          <a:prstGeom prst="rect">
            <a:avLst/>
          </a:prstGeom>
          <a:solidFill>
            <a:srgbClr val="2E7D52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   shortlist advanced to MD / MMGBSA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D4055"/>
                </a:solidFill>
                <a:latin typeface="Calibri"/>
              </a:rPr>
              <a:t>- Inspection layer: marimo triage view (ipTM vs peptide-drift plane, sized by pLDDT) plus a per-design drilldown.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D4055"/>
                </a:solidFill>
                <a:latin typeface="Calibri"/>
              </a:rPr>
              <a:t>- Enriched per-design table adds topology (head-to-tail / monocyclic / bicyclic), cPEPmatch fit-RMSD, peptide drift, and a topology audit that flags designs built with the wrong cyclization vs the DB.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D4055"/>
                </a:solidFill>
                <a:latin typeface="Calibri"/>
              </a:rPr>
              <a:t>- Shortlist picks the best cyclic design per topology family, so MD spends GPU only on a few coverage-spanning candidates.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Designs vs natural partners: MMGBSA per target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Best designed cyclic peptide against the cognate natural binder.</a:t>
            </a:r>
          </a:p>
        </p:txBody>
      </p:sp>
      <p:pic>
        <p:nvPicPr>
          <p:cNvPr id="4" name="Picture 3" descr="fig_design_vs_na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044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7373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- Natural partner wins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055"/>
                </a:solidFill>
                <a:latin typeface="Calibri"/>
              </a:rPr>
              <a:t>- for 3/4 targets: MDM2, Bcl-xL, 14-3-3.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- CypA is the exception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055"/>
                </a:solidFill>
                <a:latin typeface="Calibri"/>
              </a:rPr>
              <a:t>- design -39.6 vs nat -30.8.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B44A1E"/>
                </a:solidFill>
                <a:latin typeface="Calibri"/>
              </a:rPr>
              <a:t>- (but see slide 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Error bars are honest +-5 kcal/mol, not the MMPBSA-printed 0.5 to 0.9 (frames autocorrelated, n=1). Differences within ~5 kcal/mol are noise. Bcl-xL natural ref not converged at 10 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Negative-control specificity matrix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The centrepiece: does the score discriminate sequence and target identity?</a:t>
            </a:r>
          </a:p>
        </p:txBody>
      </p:sp>
      <p:pic>
        <p:nvPicPr>
          <p:cNvPr id="4" name="Picture 3" descr="fig_specific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4422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55448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E7D52"/>
                </a:solidFill>
                <a:latin typeface="Calibri"/>
              </a:rPr>
              <a:t>- 3/4 targets discriminate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D4055"/>
                </a:solidFill>
                <a:latin typeface="Calibri"/>
              </a:rPr>
              <a:t>- both sequence (Ala-scan, scrambled collapse +23 to +44) and target (wrong-target ddG +23 to +64; Bcl-xL and 14-3-3 reach near-zero absolute dG, MDM2 anecdotal due to high SE).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3D4055"/>
                </a:solidFill>
                <a:latin typeface="Calibri"/>
              </a:rPr>
              <a:t>- Pipeline is not just rewarding any peptide in a pocket: sidechains and target identity both matter.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B44A1E"/>
                </a:solidFill>
                <a:latin typeface="Calibri"/>
              </a:rPr>
              <a:t>- CypA scrambled does NOT collapse (+1.2).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B44A1E"/>
                </a:solidFill>
                <a:latin typeface="Calibri"/>
              </a:rPr>
              <a:t>- That single orange cell is the honesty finding (next slide).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All cells +-5 kcal/mol. MDM2 wrong-target had high SE (1.3, did not equilibrate in foreign pocket): anecdotal. MDM2 scrambled overstates effect (CYX-&gt;ALA bug dropped a disulfide).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honesty finding: CypA is composition-driven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A surprising negative result, reported as found.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7ECE3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44A1E"/>
                </a:solidFill>
                <a:latin typeface="Calibri"/>
              </a:rPr>
              <a:t>CypA: a randomly permuted version of the design scores identically to the design (scrambled ddG = +1.2 kcal/mol, within noise).</a:t>
            </a:r>
          </a:p>
          <a:p>
            <a:pPr algn="l"/>
            <a:r>
              <a:rPr sz="1400" b="0" i="0">
                <a:solidFill>
                  <a:srgbClr val="3D4055"/>
                </a:solidFill>
                <a:latin typeface="Calibri"/>
              </a:rPr>
              <a:t>The CypA win is composition-driven shape complementarity, not a sequence-specific binding hypothesis. The cognate dG is real, but the design's specific sequence contributes essentially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- Bcl-xL is partially composition-driven: scrambled retains ~60% of binding (scrambled +24.8 vs Ala-scan +37.1).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3D4055"/>
                </a:solidFill>
                <a:latin typeface="Calibri"/>
              </a:rPr>
              <a:t>- MDM2 and 14-3-3 do show sequence specificity (scrambled collapses hard, +24 and +44).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- Implication: 'pipeline ranks design &gt; scrambled' is target-dependent, not a universal property.</a:t>
            </a:r>
          </a:p>
          <a:p>
            <a:pPr algn="l">
              <a:spcAft>
                <a:spcPts val="800"/>
              </a:spcAft>
            </a:pPr>
            <a:r>
              <a:rPr sz="1500" b="0" i="1">
                <a:solidFill>
                  <a:srgbClr val="3D4055"/>
                </a:solidFill>
                <a:latin typeface="Calibri"/>
              </a:rPr>
              <a:t>- Follow-up queued (most important): repeat CypA scrambled with 3 RNG seeds to test if +1.2 is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n=1 trajectory per cell. The +1.2 could be a one-off; the 3-seed repeat is the decisive test and is not yet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Does the cheap score predict the physics?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ipTM (Boltz confidence) vs MMGBSA dG. The question we cannot yet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- We would like ipTM to rank designs the way MMGBSA does, so the cheap stage can pre-screen.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44A1E"/>
                </a:solidFill>
                <a:latin typeface="Calibri"/>
              </a:rPr>
              <a:t>- Right now we cannot say whether it does.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3D4055"/>
                </a:solidFill>
                <a:latin typeface="Calibri"/>
              </a:rPr>
              <a:t>- Only 3 designs per target went to MD (12 total in the overnight batch; no alternates). Too few for a per-target Spearman ipTM-vs-MMGBSA.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3D4055"/>
                </a:solidFill>
                <a:latin typeface="Calibri"/>
              </a:rPr>
              <a:t>- ipTM range across the MDM2 designs is narrow (0.83 to 0.96): little spread to correlate against.</a:t>
            </a:r>
          </a:p>
          <a:p>
            <a:pPr algn="l">
              <a:spcAft>
                <a:spcPts val="1000"/>
              </a:spcAft>
            </a:pPr>
            <a:r>
              <a:rPr sz="1600" b="0" i="1">
                <a:solidFill>
                  <a:srgbClr val="3D4055"/>
                </a:solidFill>
                <a:latin typeface="Calibri"/>
              </a:rPr>
              <a:t>- With n this small, any Spearman rho is dominated by noise. Reporting one would be over-claiming.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- Honest verdict: under-powered. The correlation question is deferred to the stratified experiment (slide 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No ipTM-MMGBSA correlation is reported because n per target is far too small (3 to 5) and the ipTM spread is narrow. An honest rho needs the n=15 stratified design (queued).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What is still unclear, and what is queued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Designed and submitted on Slurm. Results pending, no outcomes yet.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486400" cy="4206240"/>
          </a:xfrm>
          <a:prstGeom prst="rect">
            <a:avLst/>
          </a:prstGeom>
          <a:solidFill>
            <a:srgbClr val="E8F0E9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52"/>
                </a:solidFill>
                <a:latin typeface="Calibri"/>
              </a:rPr>
              <a:t>Queued on Slurm (running, results pending)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3D4055"/>
                </a:solidFill>
                <a:latin typeface="Calibri"/>
              </a:rPr>
              <a:t>- cPEPmatch fit-RMSD sensitivity (MDM2/p53): does seed geometric quality propagate to final design quality, or does ProteinHunter rescue anything? Decision criterion fixed in advance.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3D4055"/>
                </a:solidFill>
                <a:latin typeface="Calibri"/>
              </a:rPr>
              <a:t>- ProteinHunter convergence-at-100 (match18_3av9): does the LigandMPNN &lt;-&gt; Boltz loop reach a self-consistent fixed point, or is it a greedy ipTM hill-climb (the 2024 anti-pattern)? 4 independent seeds.</a:t>
            </a:r>
          </a:p>
          <a:p>
            <a:pPr algn="l">
              <a:spcBef>
                <a:spcPts val="600"/>
              </a:spcBef>
            </a:pPr>
            <a:r>
              <a:rPr sz="1150" b="0" i="1">
                <a:solidFill>
                  <a:srgbClr val="6B6F80"/>
                </a:solidFill>
                <a:latin typeface="Calibri"/>
              </a:rPr>
              <a:t>No results yet. Outcomes not fabricated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486400" cy="4206240"/>
          </a:xfrm>
          <a:prstGeom prst="rect">
            <a:avLst/>
          </a:prstGeom>
          <a:solidFill>
            <a:srgbClr val="F1F2F6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A8E"/>
                </a:solidFill>
                <a:latin typeface="Calibri"/>
              </a:rPr>
              <a:t>Needed for an honest verdict (not yet run)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3D4055"/>
                </a:solidFill>
                <a:latin typeface="Calibri"/>
              </a:rPr>
              <a:t>- n=15 designs per target with stratified ipTM sampling: the only honest way to estimate Spearman rho for ipTM vs MMGBSA.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3D4055"/>
                </a:solidFill>
                <a:latin typeface="Calibri"/>
              </a:rPr>
              <a:t>- 100 ns production runs for the per-target winners + natural refs (bronto cannot deliver these; needs the firefly cluster).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3D4055"/>
                </a:solidFill>
                <a:latin typeface="Calibri"/>
              </a:rPr>
              <a:t>- Block-averaged / proper standard errors to replace the misleading MMPBSA sqrt-of-frames SE.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3D4055"/>
                </a:solidFill>
                <a:latin typeface="Calibri"/>
              </a:rPr>
              <a:t>- MMPBSA-proper (PB, not GB-only) as a second independent solvation model on the winners.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Slurm jobs are designed and submitted; no numbers exist yet. Everything in the right card is identified but unrun.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Limitations and epistemics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Where the numbers are soft, stated plainly.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- n = 1 trajectory per MD cell. The printed MMPBSA SE (0.5 to 0.9) assumes independent frames; true SE is roughly 3 to 10x larger.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B44A1E"/>
                </a:solidFill>
                <a:latin typeface="Calibri"/>
              </a:rPr>
              <a:t>- Treat every per-cell error bar as +-3 to 5 kcal/mol. Any ddG within ~5 of zero is noise.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055"/>
                </a:solidFill>
                <a:latin typeface="Calibri"/>
              </a:rPr>
              <a:t>- Force-field artefacts: 3odi cyclosporin reference unusable (6/11 N-methylated residues defeat GAFF); excluded, not a result.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055"/>
                </a:solidFill>
                <a:latin typeface="Calibri"/>
              </a:rPr>
              <a:t>- Bcl-xL natural reference (Bad) not converged at 10 ns (RMSD still rising, dG drifts ~4.8 kcal/mol): an under-confident floor, recompute at 100 ns.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055"/>
                </a:solidFill>
                <a:latin typeface="Calibri"/>
              </a:rPr>
              <a:t>- MDM2 scrambled control degraded by a CYX-&gt;ALA mutagenesis bug (lost a disulfide), so its ddG overstates the sequence effect.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055"/>
                </a:solidFill>
                <a:latin typeface="Calibri"/>
              </a:rPr>
              <a:t>- Scoring is GB-only (igb=5), not PB. Wrong-target pose is a heuristic pocket pushout, not a re-dock (orientation arbitrary).</a:t>
            </a:r>
          </a:p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6B6F80"/>
                </a:solidFill>
                <a:latin typeface="Calibri"/>
              </a:rPr>
              <a:t>- Upstream design (per 2026-04-23 critique): Stage 3 optimizes Boltz ipTM, a confidence proxy, not a thermodynamic quantity.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These are not hedges added for the talk; each is sourced from the negative-control final report Caveats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Verdict and recommendation</a:t>
            </a:r>
          </a:p>
          <a:p>
            <a:pPr algn="l"/>
            <a:r>
              <a:rPr sz="1400" b="0" i="1">
                <a:solidFill>
                  <a:srgbClr val="2D6A8E"/>
                </a:solidFill>
                <a:latin typeface="Calibri"/>
              </a:rPr>
              <a:t>Honest, not promotional.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881360" cy="1508760"/>
          </a:xfrm>
          <a:prstGeom prst="rect">
            <a:avLst/>
          </a:prstGeom>
          <a:solidFill>
            <a:srgbClr val="ECF1F5"/>
          </a:solidFill>
          <a:ln w="9525">
            <a:solidFill>
              <a:srgbClr val="DD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The pipeline is internally consistent and discriminating, but the designs are NOT yet competitive with natural binders on dG.</a:t>
            </a:r>
          </a:p>
          <a:p>
            <a:pPr algn="l"/>
            <a:r>
              <a:rPr sz="1400" b="0" i="0">
                <a:solidFill>
                  <a:srgbClr val="3D4055"/>
                </a:solidFill>
                <a:latin typeface="Calibri"/>
              </a:rPr>
              <a:t>Natural partners beat the designs for 3/4 targets; the one apparent CypA win is composition-driven, not sequence-specific.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E7D52"/>
                </a:solidFill>
                <a:latin typeface="Calibri"/>
              </a:rPr>
              <a:t>- What is solid: the negative-control matrix shows the score discriminates sequence and target for MDM2, Bcl-xL, 14-3-3.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B44A1E"/>
                </a:solidFill>
                <a:latin typeface="Calibri"/>
              </a:rPr>
              <a:t>- What is not: absolute affinity vs natural binders, the CypA specificity failure, and whether ipTM predicts MMGBSA (under-powered).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- Recommendation: before scaling up, (1) resolve the cheap-score-vs-physics question with the n=15 stratified runs, (2) get 100 ns + proper SE on the winners via firefly, (3) treat CypA as a cautionary case, not a hit.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3D4055"/>
                </a:solidFill>
                <a:latin typeface="Calibri"/>
              </a:rPr>
              <a:t>- Strategic context (critique 2026-04-23): the interface-mimicry premise is defensible and testable; the current operationalization (greedy ipTM, GB-only screen) is the weak link, not the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F80"/>
                </a:solidFill>
                <a:latin typeface="Calibri"/>
              </a:rPr>
              <a:t>Epistemic flag: Verdict rests on n=1 MD with +-5 kcal/mol bars and one un-converged reference. Direction is robust; exact magnitudes are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